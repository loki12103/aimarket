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845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0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0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1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9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4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4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74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50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182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65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6632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92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62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8607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88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06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541603"/>
            <a:ext cx="7822473" cy="3329581"/>
          </a:xfrm>
        </p:spPr>
        <p:txBody>
          <a:bodyPr/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Market Trend &amp; Consumer Sentiment Forecaster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52160" y="4816854"/>
            <a:ext cx="3088640" cy="1057583"/>
          </a:xfrm>
        </p:spPr>
        <p:txBody>
          <a:bodyPr>
            <a:noAutofit/>
          </a:bodyPr>
          <a:lstStyle/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Lokesh K</a:t>
            </a:r>
          </a:p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Developer</a:t>
            </a:r>
          </a:p>
          <a:p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400" b="1"/>
            </a:pPr>
            <a:r>
              <a:t>The Challenge:</a:t>
            </a:r>
          </a:p>
          <a:p>
            <a:pPr lvl="1">
              <a:defRPr sz="1800"/>
            </a:pPr>
            <a:r>
              <a:t>Consumer opinions spread across social media, product reviews, and news platforms</a:t>
            </a:r>
          </a:p>
          <a:p>
            <a:pPr lvl="1">
              <a:defRPr sz="1800"/>
            </a:pPr>
            <a:r>
              <a:t>Businesses struggle to manually analyze massive, unstructured data in real time</a:t>
            </a:r>
          </a:p>
          <a:p>
            <a:pPr lvl="1">
              <a:defRPr sz="1800"/>
            </a:pPr>
            <a:r>
              <a:t>Delayed responses to market trends lead to customer dissatisfaction</a:t>
            </a:r>
          </a:p>
          <a:p>
            <a:pPr lvl="1">
              <a:defRPr sz="1800"/>
            </a:pPr>
            <a:r>
              <a:t>Need for automated, intelligent analysis of consumer sentiment</a:t>
            </a:r>
          </a:p>
          <a:p>
            <a:br/>
            <a:r>
              <a:t>Our Solution:</a:t>
            </a:r>
          </a:p>
          <a:p>
            <a:pPr lvl="1">
              <a:defRPr sz="1800"/>
            </a:pPr>
            <a:r>
              <a:t>AI-powered system that aggregates multi-source data and provides real-time sentiment and trend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/>
            </a:pPr>
            <a:r>
              <a:t>Collect and aggregate consumer opinions from multiple channels</a:t>
            </a:r>
          </a:p>
          <a:p>
            <a:pPr>
              <a:spcAft>
                <a:spcPts val="1200"/>
              </a:spcAft>
              <a:defRPr sz="2000"/>
            </a:pPr>
            <a:r>
              <a:t>Analyze sentiment and emerging topics using LLMs</a:t>
            </a:r>
          </a:p>
          <a:p>
            <a:pPr>
              <a:spcAft>
                <a:spcPts val="1200"/>
              </a:spcAft>
              <a:defRPr sz="2000"/>
            </a:pPr>
            <a:r>
              <a:t>Provide contextual insights using RAG pipelines</a:t>
            </a:r>
          </a:p>
          <a:p>
            <a:pPr>
              <a:spcAft>
                <a:spcPts val="1200"/>
              </a:spcAft>
              <a:defRPr sz="2000"/>
            </a:pPr>
            <a:r>
              <a:t>Help marketing and product teams make data-driven decisions</a:t>
            </a:r>
          </a:p>
          <a:p>
            <a:pPr>
              <a:spcAft>
                <a:spcPts val="1200"/>
              </a:spcAft>
              <a:defRPr sz="2000"/>
            </a:pPr>
            <a:r>
              <a:t>Enable real-time monitoring and automated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E6CEE-FEFF-06AA-99C8-0D37A79F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454E-5016-9AAE-28E6-5AC26F49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200" b="1"/>
            </a:pPr>
            <a:r>
              <a:rPr lang="en-IN" dirty="0"/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AA450-7A9C-5651-EB9B-02F69BD4A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930"/>
          <a:stretch>
            <a:fillRect/>
          </a:stretch>
        </p:blipFill>
        <p:spPr>
          <a:xfrm>
            <a:off x="173736" y="1859315"/>
            <a:ext cx="8750808" cy="454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2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600" b="1"/>
            </a:pPr>
            <a:r>
              <a:t>1. Data Collection &amp; Scraping</a:t>
            </a:r>
          </a:p>
          <a:p>
            <a:pPr lvl="1">
              <a:spcAft>
                <a:spcPts val="800"/>
              </a:spcAft>
              <a:defRPr sz="1400"/>
            </a:pPr>
            <a:r>
              <a:t>Fetches data using APIs/scrapers from social media, reviews, and news</a:t>
            </a:r>
          </a:p>
          <a:p>
            <a:pPr>
              <a:defRPr sz="1600" b="1"/>
            </a:pPr>
            <a:r>
              <a:t>2. Data Cleaning &amp; Normalization</a:t>
            </a:r>
          </a:p>
          <a:p>
            <a:pPr lvl="1">
              <a:spcAft>
                <a:spcPts val="800"/>
              </a:spcAft>
              <a:defRPr sz="1400"/>
            </a:pPr>
            <a:r>
              <a:t>Removes noise, formats text, standardizes dates and categories</a:t>
            </a:r>
          </a:p>
          <a:p>
            <a:pPr>
              <a:defRPr sz="1600" b="1"/>
            </a:pPr>
            <a:r>
              <a:t>3. LLM Sentiment &amp; Topic Modeling</a:t>
            </a:r>
          </a:p>
          <a:p>
            <a:pPr lvl="1">
              <a:spcAft>
                <a:spcPts val="800"/>
              </a:spcAft>
              <a:defRPr sz="1400"/>
            </a:pPr>
            <a:r>
              <a:t>Classifies sentiment (Positive/Neutral/Negative) and extracts key topics</a:t>
            </a:r>
          </a:p>
          <a:p>
            <a:pPr>
              <a:defRPr sz="1600" b="1"/>
            </a:pPr>
            <a:r>
              <a:t>4. RAG Pipeline</a:t>
            </a:r>
          </a:p>
          <a:p>
            <a:pPr lvl="1">
              <a:spcAft>
                <a:spcPts val="800"/>
              </a:spcAft>
              <a:defRPr sz="1400"/>
            </a:pPr>
            <a:r>
              <a:t>Retrieves relevant data using vector search for contextual insights</a:t>
            </a:r>
          </a:p>
          <a:p>
            <a:pPr>
              <a:defRPr sz="1600" b="1"/>
            </a:pPr>
            <a:r>
              <a:t>5. Visualization &amp; Analytics</a:t>
            </a:r>
          </a:p>
          <a:p>
            <a:pPr lvl="1">
              <a:spcAft>
                <a:spcPts val="800"/>
              </a:spcAft>
              <a:defRPr sz="1400"/>
            </a:pPr>
            <a:r>
              <a:t>Displays trends, comparisons, and sentiment shifts</a:t>
            </a:r>
          </a:p>
          <a:p>
            <a:pPr>
              <a:defRPr sz="1600" b="1"/>
            </a:pPr>
            <a:r>
              <a:t>6. Alerts &amp; Reporting</a:t>
            </a:r>
          </a:p>
          <a:p>
            <a:pPr lvl="1">
              <a:spcAft>
                <a:spcPts val="800"/>
              </a:spcAft>
              <a:defRPr sz="1400"/>
            </a:pPr>
            <a:r>
              <a:t>Sends alerts for sentiment spikes and trend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Milestone 1 (Week 2)</a:t>
            </a:r>
          </a:p>
          <a:p>
            <a:pPr lvl="1">
              <a:spcAft>
                <a:spcPts val="1200"/>
              </a:spcAft>
              <a:defRPr sz="1600"/>
            </a:pPr>
            <a:r>
              <a:t>Data scraping operational; cleaned dataset available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Milestone 2 (Week 4)</a:t>
            </a:r>
          </a:p>
          <a:p>
            <a:pPr lvl="1">
              <a:spcAft>
                <a:spcPts val="1200"/>
              </a:spcAft>
              <a:defRPr sz="1600"/>
            </a:pPr>
            <a:r>
              <a:t>LLM sentiment &amp; topic models functional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Milestone 3 (Week 6)</a:t>
            </a:r>
          </a:p>
          <a:p>
            <a:pPr lvl="1">
              <a:spcAft>
                <a:spcPts val="1200"/>
              </a:spcAft>
              <a:defRPr sz="1600"/>
            </a:pPr>
            <a:r>
              <a:t>Dashboards live; RAG pipeline integrated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Milestone 4 (Week 8)</a:t>
            </a:r>
          </a:p>
          <a:p>
            <a:pPr lvl="1">
              <a:spcAft>
                <a:spcPts val="1200"/>
              </a:spcAft>
              <a:defRPr sz="1600"/>
            </a:pPr>
            <a:r>
              <a:t>Alerts/reports generated; system deployed successfully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Language: </a:t>
            </a:r>
            <a:r>
              <a:rPr b="0"/>
              <a:t>Python 3.x</a:t>
            </a:r>
          </a:p>
          <a:p>
            <a:pPr>
              <a:defRPr sz="1600" b="1"/>
            </a:pPr>
            <a:r>
              <a:t>Core Libraries: </a:t>
            </a:r>
            <a:r>
              <a:rPr b="0"/>
              <a:t>pandas, numpy, scikit-learn</a:t>
            </a:r>
          </a:p>
          <a:p>
            <a:pPr>
              <a:defRPr sz="1600" b="1"/>
            </a:pPr>
            <a:r>
              <a:t>AI/ML Libraries: </a:t>
            </a:r>
            <a:r>
              <a:rPr b="0"/>
              <a:t>transformers, langchain, sentence-transformers</a:t>
            </a:r>
          </a:p>
          <a:p>
            <a:pPr>
              <a:defRPr sz="1600" b="1"/>
            </a:pPr>
            <a:r>
              <a:t>LLM Models: </a:t>
            </a:r>
            <a:r>
              <a:rPr b="0"/>
              <a:t>Gemini, Groq (Llama), BERT</a:t>
            </a:r>
          </a:p>
          <a:p>
            <a:pPr>
              <a:defRPr sz="1600" b="1"/>
            </a:pPr>
            <a:r>
              <a:t>Topic Modeling: </a:t>
            </a:r>
            <a:r>
              <a:rPr b="0"/>
              <a:t>LDA, BERTopic</a:t>
            </a:r>
          </a:p>
          <a:p>
            <a:pPr>
              <a:defRPr sz="1600" b="1"/>
            </a:pPr>
            <a:r>
              <a:t>Vector Database: </a:t>
            </a:r>
            <a:r>
              <a:rPr b="0"/>
              <a:t>FAISS</a:t>
            </a:r>
          </a:p>
          <a:p>
            <a:pPr>
              <a:defRPr sz="1600" b="1"/>
            </a:pPr>
            <a:r>
              <a:t>Dashboard: </a:t>
            </a:r>
            <a:r>
              <a:rPr b="0"/>
              <a:t>Streamlit, Plotly, Matplotlib</a:t>
            </a:r>
          </a:p>
          <a:p>
            <a:pPr>
              <a:defRPr sz="1600" b="1"/>
            </a:pPr>
            <a:r>
              <a:t>Development Tools: </a:t>
            </a:r>
            <a:r>
              <a:rPr b="0"/>
              <a:t>VS Code, Git, GitHub</a:t>
            </a:r>
          </a:p>
          <a:p>
            <a:pPr>
              <a:defRPr sz="1600" b="1"/>
            </a:pPr>
            <a:r>
              <a:t>APIs: </a:t>
            </a:r>
            <a:r>
              <a:rPr b="0"/>
              <a:t>RapidAPI, News API, Reddit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&amp; LLM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 b="1"/>
            </a:pPr>
            <a:r>
              <a:rPr dirty="0"/>
              <a:t>How it Works:</a:t>
            </a:r>
          </a:p>
          <a:p>
            <a:pPr lvl="1">
              <a:defRPr sz="1600"/>
            </a:pPr>
            <a:r>
              <a:rPr dirty="0"/>
              <a:t>LLMs analyze sentiment and extract topics from consumer data</a:t>
            </a:r>
          </a:p>
          <a:p>
            <a:pPr lvl="1">
              <a:defRPr sz="1600"/>
            </a:pPr>
            <a:r>
              <a:rPr dirty="0"/>
              <a:t>RAG ensures insights are based on actual data, not hallucinations</a:t>
            </a:r>
          </a:p>
          <a:p>
            <a:pPr lvl="1">
              <a:defRPr sz="1600"/>
            </a:pPr>
            <a:r>
              <a:rPr dirty="0"/>
              <a:t>Vector search retrieves relevant opinions before generating insights</a:t>
            </a:r>
          </a:p>
          <a:p>
            <a:pPr lvl="1">
              <a:defRPr sz="1600"/>
            </a:pPr>
            <a:r>
              <a:rPr dirty="0"/>
              <a:t>FAISS enables fast semantic search across consumer feedback</a:t>
            </a:r>
          </a:p>
          <a:p>
            <a:br>
              <a:rPr dirty="0"/>
            </a:br>
            <a:r>
              <a:rPr dirty="0"/>
              <a:t>Example Query:</a:t>
            </a:r>
          </a:p>
          <a:p>
            <a:pPr lvl="1">
              <a:defRPr sz="1800" i="1">
                <a:solidFill>
                  <a:srgbClr val="0066CC"/>
                </a:solidFill>
              </a:defRPr>
            </a:pPr>
            <a:r>
              <a:rPr dirty="0">
                <a:solidFill>
                  <a:schemeClr val="tx2"/>
                </a:solidFill>
              </a:rPr>
              <a:t>"Why is sentiment declining for Product X?"</a:t>
            </a:r>
          </a:p>
          <a:p>
            <a:pPr lvl="1">
              <a:defRPr sz="1600"/>
            </a:pPr>
            <a:r>
              <a:rPr dirty="0"/>
              <a:t>Response: "Negative sentiment increased by 25% due to delivery delays mentioned in 157 recent reviews."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Key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2200" b="1"/>
            </a:pPr>
            <a:r>
              <a:rPr dirty="0"/>
              <a:t>Deliverables: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✓ Interactive dashboards with real-time sentiment trends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✓ Sentiment spike detection and visualization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✓ Topic modeling with category-wise analysis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✓ Automated alert system (Email/Slack notifications)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✓ RAG-powered question answering system</a:t>
            </a:r>
          </a:p>
          <a:p>
            <a:pPr lvl="1">
              <a:spcAft>
                <a:spcPts val="800"/>
              </a:spcAft>
              <a:defRPr sz="1800"/>
            </a:pPr>
            <a:r>
              <a:rPr dirty="0"/>
              <a:t>✓ Historical trend analysis and comparisons</a:t>
            </a:r>
          </a:p>
          <a:p>
            <a:br>
              <a:rPr dirty="0"/>
            </a:br>
            <a:r>
              <a:rPr dirty="0"/>
              <a:t>Example Insight:</a:t>
            </a:r>
          </a:p>
          <a:p>
            <a:pPr lvl="1">
              <a:defRPr sz="1600" i="1">
                <a:solidFill>
                  <a:srgbClr val="CC0000"/>
                </a:solidFill>
              </a:defRPr>
            </a:pPr>
            <a:r>
              <a:rPr dirty="0">
                <a:solidFill>
                  <a:schemeClr val="tx2"/>
                </a:solidFill>
              </a:rPr>
              <a:t>"Negative sentiment increased 30% for Electronics category due to delivery delays and product quality issues"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200" b="1">
                <a:solidFill>
                  <a:srgbClr val="00994C"/>
                </a:solidFill>
              </a:defRPr>
            </a:pPr>
            <a:r>
              <a:t>🧪 Testing:</a:t>
            </a:r>
          </a:p>
          <a:p>
            <a:pPr lvl="1">
              <a:defRPr sz="1600"/>
            </a:pPr>
            <a:r>
              <a:t>Tested with historical and real-time data</a:t>
            </a:r>
          </a:p>
          <a:p>
            <a:pPr lvl="1">
              <a:defRPr sz="1600"/>
            </a:pPr>
            <a:r>
              <a:t>Simulated sentiment spikes and trend changes</a:t>
            </a:r>
          </a:p>
          <a:p>
            <a:pPr lvl="1">
              <a:defRPr sz="1600"/>
            </a:pPr>
            <a:r>
              <a:t>Validated RAG pipeline accuracy</a:t>
            </a:r>
          </a:p>
          <a:p>
            <a:pPr lvl="1">
              <a:defRPr sz="1600"/>
            </a:pPr>
            <a:r>
              <a:t>Performance testing with large datasets</a:t>
            </a:r>
          </a:p>
          <a:p>
            <a:br/>
            <a:r>
              <a:t>⚠️ Challenges:</a:t>
            </a:r>
          </a:p>
          <a:p>
            <a:pPr lvl="1">
              <a:defRPr sz="1600"/>
            </a:pPr>
            <a:r>
              <a:t>Handling noisy social media text and slang</a:t>
            </a:r>
          </a:p>
          <a:p>
            <a:pPr lvl="1">
              <a:defRPr sz="1600"/>
            </a:pPr>
            <a:r>
              <a:t>Topic overlap in unsupervised models</a:t>
            </a:r>
          </a:p>
          <a:p>
            <a:pPr lvl="1">
              <a:defRPr sz="1600"/>
            </a:pPr>
            <a:r>
              <a:t>Sentiment imbalance across categories</a:t>
            </a:r>
          </a:p>
          <a:p>
            <a:pPr lvl="1">
              <a:defRPr sz="1600"/>
            </a:pPr>
            <a:r>
              <a:t>Performance optimization for large datasets</a:t>
            </a:r>
          </a:p>
          <a:p>
            <a:pPr lvl="1">
              <a:defRPr sz="1600"/>
            </a:pPr>
            <a:r>
              <a:t>API rate limits and data collection 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🌍 Multilingual sentiment analysis</a:t>
            </a:r>
          </a:p>
          <a:p>
            <a:pPr>
              <a:spcAft>
                <a:spcPts val="1000"/>
              </a:spcAft>
              <a:defRPr sz="1800"/>
            </a:pPr>
            <a:r>
              <a:t>📈 Predictive trend forecasting using time series</a:t>
            </a:r>
          </a:p>
          <a:p>
            <a:pPr>
              <a:spcAft>
                <a:spcPts val="1000"/>
              </a:spcAft>
              <a:defRPr sz="1800"/>
            </a:pPr>
            <a:r>
              <a:t>⚖️ Real-time brand comparison analytics</a:t>
            </a:r>
          </a:p>
          <a:p>
            <a:pPr>
              <a:spcAft>
                <a:spcPts val="1000"/>
              </a:spcAft>
              <a:defRPr sz="1800"/>
            </a:pPr>
            <a:r>
              <a:t>🎤 Voice-of-customer analytics</a:t>
            </a:r>
          </a:p>
          <a:p>
            <a:pPr>
              <a:spcAft>
                <a:spcPts val="1000"/>
              </a:spcAft>
              <a:defRPr sz="1800"/>
            </a:pPr>
            <a:r>
              <a:t>🔗 Integration with CRM tools (Salesforce, HubSpot)</a:t>
            </a:r>
          </a:p>
          <a:p>
            <a:pPr>
              <a:spcAft>
                <a:spcPts val="1000"/>
              </a:spcAft>
              <a:defRPr sz="1800"/>
            </a:pPr>
            <a:r>
              <a:t>🤖 Advanced NLP models (GPT-4, Claude)</a:t>
            </a:r>
          </a:p>
          <a:p>
            <a:pPr>
              <a:spcAft>
                <a:spcPts val="1000"/>
              </a:spcAft>
              <a:defRPr sz="1800"/>
            </a:pPr>
            <a:r>
              <a:t>📱 Mobile app for on-the-go insights</a:t>
            </a:r>
          </a:p>
          <a:p>
            <a:pPr>
              <a:spcAft>
                <a:spcPts val="1000"/>
              </a:spcAft>
              <a:defRPr sz="1800"/>
            </a:pPr>
            <a:r>
              <a:t>🔔 Custom alert rules and thresholds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 sz="2400" b="1"/>
            </a:pPr>
            <a:r>
              <a:rPr dirty="0"/>
              <a:t>Key Takeaways:</a:t>
            </a:r>
          </a:p>
          <a:p>
            <a:pPr lvl="1">
              <a:spcAft>
                <a:spcPts val="1000"/>
              </a:spcAft>
              <a:defRPr sz="1800"/>
            </a:pPr>
            <a:r>
              <a:rPr dirty="0"/>
              <a:t>Transforms unstructured consumer data into actionable intelligence</a:t>
            </a:r>
          </a:p>
          <a:p>
            <a:pPr lvl="1">
              <a:spcAft>
                <a:spcPts val="1000"/>
              </a:spcAft>
              <a:defRPr sz="1800"/>
            </a:pPr>
            <a:r>
              <a:rPr dirty="0"/>
              <a:t>Enables businesses to track sentiment and identify emerging trends</a:t>
            </a:r>
          </a:p>
          <a:p>
            <a:pPr lvl="1">
              <a:spcAft>
                <a:spcPts val="1000"/>
              </a:spcAft>
              <a:defRPr sz="1800"/>
            </a:pPr>
            <a:r>
              <a:rPr dirty="0"/>
              <a:t>Provides real-time, AI-driven insights for proactive decision-making</a:t>
            </a:r>
          </a:p>
          <a:p>
            <a:pPr lvl="1">
              <a:spcAft>
                <a:spcPts val="1000"/>
              </a:spcAft>
              <a:defRPr sz="1800"/>
            </a:pPr>
            <a:r>
              <a:rPr dirty="0"/>
              <a:t>Combines multiple data sources for comprehensive market understanding</a:t>
            </a:r>
          </a:p>
          <a:p>
            <a:pPr lvl="1">
              <a:spcAft>
                <a:spcPts val="1000"/>
              </a:spcAft>
              <a:defRPr sz="1800"/>
            </a:pPr>
            <a:r>
              <a:rPr dirty="0"/>
              <a:t>Reduces manual analysis time and improves response speed</a:t>
            </a:r>
          </a:p>
          <a:p>
            <a:br>
              <a:rPr dirty="0"/>
            </a:br>
            <a:r>
              <a:rPr dirty="0"/>
              <a:t>Impact:</a:t>
            </a:r>
          </a:p>
          <a:p>
            <a:pPr lvl="1">
              <a:defRPr sz="1800">
                <a:solidFill>
                  <a:srgbClr val="0066CC"/>
                </a:solidFill>
              </a:defRPr>
            </a:pPr>
            <a:r>
              <a:rPr dirty="0">
                <a:solidFill>
                  <a:schemeClr val="tx2"/>
                </a:solidFill>
              </a:rPr>
              <a:t>Empowers businesses to stay ahead of market changes and respond quickly to customer needs using cutting-edge AI technology.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</TotalTime>
  <Words>669</Words>
  <Application>Microsoft Office PowerPoint</Application>
  <PresentationFormat>On-screen Show (4:3)</PresentationFormat>
  <Paragraphs>101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Century Gothic</vt:lpstr>
      <vt:lpstr>Times New Roman</vt:lpstr>
      <vt:lpstr>Wingdings 3</vt:lpstr>
      <vt:lpstr>Ion</vt:lpstr>
      <vt:lpstr>AI-Powered Market Trend &amp; Consumer Sentiment Forecaster</vt:lpstr>
      <vt:lpstr>Introduction &amp; Problem Statement</vt:lpstr>
      <vt:lpstr>Project Objectives</vt:lpstr>
      <vt:lpstr>System Architecture</vt:lpstr>
      <vt:lpstr>System Modules</vt:lpstr>
      <vt:lpstr>Project Milestones</vt:lpstr>
      <vt:lpstr>Technology Stack</vt:lpstr>
      <vt:lpstr>RAG &amp; LLM Integration</vt:lpstr>
      <vt:lpstr>Results &amp; Key Outputs</vt:lpstr>
      <vt:lpstr>Testing &amp; Challenges</vt:lpstr>
      <vt:lpstr>Future Enhancements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LOKESH K</cp:lastModifiedBy>
  <cp:revision>4</cp:revision>
  <dcterms:created xsi:type="dcterms:W3CDTF">2013-01-27T09:14:16Z</dcterms:created>
  <dcterms:modified xsi:type="dcterms:W3CDTF">2026-01-29T15:49:11Z</dcterms:modified>
  <cp:category/>
</cp:coreProperties>
</file>